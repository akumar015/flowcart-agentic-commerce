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</a:defRPr>
            </a:pPr>
            <a:r>
              <a:t>FlowCart</a:t>
            </a:r>
          </a:p>
          <a:p>
            <a:pPr>
              <a:spcAft>
                <a:spcPts val="2000"/>
              </a:spcAft>
              <a:defRPr sz="2200" b="1">
                <a:solidFill>
                  <a:srgbClr val="8B5CF6"/>
                </a:solidFill>
              </a:defRPr>
            </a:pPr>
            <a:r>
              <a:t>High-IQ Autonomous Conversational In-App Checkout &amp; Agentic Commerce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Crossing the e-commerce 'Transactional Divide' by making conversational AI a trusted, bounded, and explainable cashier.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645920" cy="411480"/>
          </a:xfrm>
          <a:prstGeom prst="roundRect">
            <a:avLst/>
          </a:prstGeom>
          <a:solidFill>
            <a:srgbClr val="161E31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LangGraph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5303520"/>
            <a:ext cx="1645920" cy="411480"/>
          </a:xfrm>
          <a:prstGeom prst="roundRect">
            <a:avLst/>
          </a:prstGeom>
          <a:solidFill>
            <a:srgbClr val="161E31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53035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Google 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303520"/>
            <a:ext cx="1645920" cy="411480"/>
          </a:xfrm>
          <a:prstGeom prst="roundRect">
            <a:avLst/>
          </a:prstGeom>
          <a:solidFill>
            <a:srgbClr val="161E31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53035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5303520"/>
            <a:ext cx="1645920" cy="411480"/>
          </a:xfrm>
          <a:prstGeom prst="roundRect">
            <a:avLst/>
          </a:prstGeom>
          <a:solidFill>
            <a:srgbClr val="161E31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53035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React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303520"/>
            <a:ext cx="1645920" cy="411480"/>
          </a:xfrm>
          <a:prstGeom prst="roundRect">
            <a:avLst/>
          </a:prstGeom>
          <a:solidFill>
            <a:srgbClr val="161E31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3035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Razorpay UPI Autopay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5303520"/>
            <a:ext cx="1645920" cy="411480"/>
          </a:xfrm>
          <a:prstGeom prst="roundRect">
            <a:avLst/>
          </a:prstGeom>
          <a:solidFill>
            <a:srgbClr val="161E31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53035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FastMCP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THE E-COMMERCE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The 'Transactional Divide' in 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Status Quo: The Fragmented Funnel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AI is the sales rep, but never the cashier.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• Conversational Discovery Ends at Cart: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Modern LLMs excel at finding items and answering questions, but eject users into multi-step graphical funnels for checkout.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• High Drop-off Friction: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Customers must manually toggle delivery addresses, wait for SMS OTPs, and click through 4 to 5 redirection screens.</a:t>
            </a: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</a:defRPr>
            </a:pPr>
            <a:r>
              <a:t>• The Trust Deficit: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Platforms don't trust LLMs to move money because models hallucinate, miscalculate totals, or risk prompt injection attacks.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The FlowCart Solution: Agentic Commerce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Autonomous in-app checkout with deterministic safety boundaries.</a:t>
            </a:r>
          </a:p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✔ Zero-Redirect In-App Flow: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Conversational product comparison, real-time cart mutations, and payment completion entirely within chat.</a:t>
            </a:r>
          </a:p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✔ Pre-Authorized Mandates: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Pre-authorized UPI Autopay / e-mandates enable zero-click auto-debits for everyday trusted transactions.</a:t>
            </a:r>
          </a:p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✔ Deterministic Safety Gate: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A hardcoded state machine node intercepts payment execution, strictly enforcing spending caps and category whitelists.</a:t>
            </a:r>
          </a:p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✔ Multi-Agent Ready (FastMCP):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Exposes standardized MCP tools so external AI buyers (like Claude Desktop) can transact autonomously.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57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1. Interaction Layer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Clients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React 19 + Vite Frontend (Glassmorphic dark UI)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Claude Desktop &amp; AI Buyers via FastMCP stdio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Floating technical prompt chips &amp; interactive pills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57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2. Gateway &amp; Core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FastAPI REST Services (:8000 /api/*)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LangGraph State Machine with Checkpoint Memory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Google Gemini 3.5 Flash Lite for low-latency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57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3. Security &amp; Data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Persistence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inventory.db with FTS5 Full-Text Search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users.db: profiles, mandates, orders, audit logs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Immutable agent_audit_logs for complete explainability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57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4. Payment Engine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Execution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Razorpay Orders &amp; Recurring API (Mandate Auto-Debit)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Razorpay Hosted Payment Links API (Fallback)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HMAC-SHA256 Cryptographic Webhook Handler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ARCHITECTURAL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Brain: Dual-Zone LangGraph State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SAFE ZONE (ToolNode)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Unrestricted read and discovery operations</a:t>
            </a:r>
          </a:p>
          <a:p>
            <a:pPr>
              <a:spcAft>
                <a:spcPts val="200"/>
              </a:spcAft>
              <a:defRPr b="1" sz="1200">
                <a:solidFill>
                  <a:srgbClr val="6366F1"/>
                </a:solidFill>
              </a:defRPr>
            </a:pPr>
            <a:r>
              <a:t>• search_catalog: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FTS5 keyword &amp; parameter search with category/price filters.</a:t>
            </a:r>
          </a:p>
          <a:p>
            <a:pPr>
              <a:spcAft>
                <a:spcPts val="200"/>
              </a:spcAft>
              <a:defRPr b="1" sz="1200">
                <a:solidFill>
                  <a:srgbClr val="6366F1"/>
                </a:solidFill>
              </a:defRPr>
            </a:pPr>
            <a:r>
              <a:t>• get_product_info: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Extracts deep hardware specs (mAh, GPU TGP, display).</a:t>
            </a:r>
          </a:p>
          <a:p>
            <a:pPr>
              <a:spcAft>
                <a:spcPts val="200"/>
              </a:spcAft>
              <a:defRPr b="1" sz="1200">
                <a:solidFill>
                  <a:srgbClr val="6366F1"/>
                </a:solidFill>
              </a:defRPr>
            </a:pPr>
            <a:r>
              <a:t>• add_to_cart / view_cart: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Mutates SQLite cart session state in real time.</a:t>
            </a:r>
          </a:p>
          <a:p>
            <a:pPr>
              <a:spcAft>
                <a:spcPts val="200"/>
              </a:spcAft>
              <a:defRPr b="1" sz="1200">
                <a:solidFill>
                  <a:srgbClr val="6366F1"/>
                </a:solidFill>
              </a:defRPr>
            </a:pPr>
            <a:r>
              <a:t>• Contextual Cross-Sell: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Emits structured __UPSELL__ JSON for 1-click accessories.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DANGER ZONE (Payment Gate)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Deterministic guardrail interceptor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🛡️ Hardcoded Python Interceptor: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Intercepts initiate_checkout signals. LLM cannot call Razorpay directly.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🛡️ Mandate Cap Verification: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Checks if cart grand total is within user's per-tx mandate ceiling.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🛡️ Category Whitelist Check: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Ensures all cart items fall strictly within pre-approved spending categories.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🛡️ Zero API Calls on Rejection: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 Blocks over-limit attempts immediately; no funds can be drained.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PAYMENT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Deterministic Financial Guardrail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PATH A: Mandate Auto-Debit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Zero-Click Settlement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Condition: Active Mandate + Cart &lt;= Cap + Whitelisted Category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Action: Razorpay recurring charge executed autonomously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Result: Cart cleared, order marked paid, zero redirects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PATH B: Payment Link Fallback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Step-Up Verification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Condition: Cart exceeds mandate cap OR non-whitelisted item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Action: Generates 24-hr secure Razorpay payment URL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Result: SMS &amp; email reminders dispatched; webhook settles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PATH C: Hard Financial Rejection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Zero-Movement Block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Condition: Cart grand total &gt; User spend_limit_per_tx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Action: Gate terminates checkout; injects polite explanation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Result: Zero external API calls; violation logged to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THE FUTURE OF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Agent-to-Agent (A2A) Commerce &amp; Key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Model Context Protocol (FastMCP)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AI Agents transacting on behalf of humans</a:t>
            </a:r>
          </a:p>
          <a:p>
            <a:pPr>
              <a:spcAft>
                <a:spcPts val="200"/>
              </a:spcAft>
              <a:defRPr b="1" sz="1200">
                <a:solidFill>
                  <a:srgbClr val="8B5CF6"/>
                </a:solidFill>
              </a:defRPr>
            </a:pPr>
            <a:r>
              <a:t>• Standardized FastMCP Server: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Exposes search_products, get_product_details, add_to_cart, and checkout_cart.</a:t>
            </a:r>
          </a:p>
          <a:p>
            <a:pPr>
              <a:spcAft>
                <a:spcPts val="200"/>
              </a:spcAft>
              <a:defRPr b="1" sz="1200">
                <a:solidFill>
                  <a:srgbClr val="8B5CF6"/>
                </a:solidFill>
              </a:defRPr>
            </a:pPr>
            <a:r>
              <a:t>• Claude Desktop Native: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Any MCP client can query FlowCart catalog and manage shopping carts via stdio.</a:t>
            </a:r>
          </a:p>
          <a:p>
            <a:pPr>
              <a:spcAft>
                <a:spcPts val="200"/>
              </a:spcAft>
              <a:defRPr b="1" sz="1200">
                <a:solidFill>
                  <a:srgbClr val="8B5CF6"/>
                </a:solidFill>
              </a:defRPr>
            </a:pPr>
            <a:r>
              <a:t>• Autonomous Execution: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Claude buys authorized groceries or gear using the user's pre-approved mandate.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Core Impact &amp; Value Delivered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Why FlowCart wins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✔ Zero Redirect Drop-offs: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Customers stay entirely in conversational flow from discovery to receipt.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✔ Sub-3 Second Settlement: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Pre-authorized UPI Autopay eliminates manual OTP and form friction.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✔ 100% Audit Non-Repudiation: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Every LLM decision, gate check, and webhook event is immutably logged.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✔ Enterprise Extensibility: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Modular LangGraph engine allows swapping models or payment providers.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